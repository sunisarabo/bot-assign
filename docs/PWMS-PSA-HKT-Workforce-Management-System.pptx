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97680"/>
            <a:ext cx="12191695" cy="635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698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C0E8"/>
                </a:solidFill>
                <a:latin typeface="Tahoma"/>
              </a:rPr>
              <a:t>PASSENGER SERVICES · AOTGA — HKT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28800"/>
            <a:ext cx="109728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4800" b="1">
                <a:solidFill>
                  <a:srgbClr val="FFFFFF"/>
                </a:solidFill>
                <a:latin typeface="Tahoma"/>
              </a:rPr>
              <a:t>PWMS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400" b="0">
                <a:solidFill>
                  <a:srgbClr val="CFE0F2"/>
                </a:solidFill>
                <a:latin typeface="Tahoma"/>
              </a:rPr>
              <a:t>PSA-HKT Workforce Management 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572000"/>
            <a:ext cx="109728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CFE0F2"/>
                </a:solidFill>
                <a:latin typeface="Tahoma"/>
              </a:rPr>
              <a:t>แดชบอร์ดเว็บ อ่านชีต Roster/Flight อัตโนมัติ → เช็คคนครบตาม SLA → หาคนช่วย → สร้างข้อความ SOS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>
                <a:solidFill>
                  <a:srgbClr val="9FC0E8"/>
                </a:solidFill>
                <a:latin typeface="Tahoma"/>
              </a:rPr>
              <a:t>เอกสารนำเสนอ · คู่มือใช้งาน · แผนพัฒนาต่อ   |   มิ.ย.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ภาพรวม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สิ่งที่จะนำเสนอ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10058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10058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85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F4E79"/>
                </a:solidFill>
                <a:latin typeface="Tahoma"/>
              </a:rPr>
              <a:t>1 · เสนอระบบ</a:t>
            </a:r>
            <a:r>
              <a:rPr sz="1300" b="0">
                <a:solidFill>
                  <a:srgbClr val="556070"/>
                </a:solidFill>
                <a:latin typeface="Tahoma"/>
              </a:rPr>
              <a:t>   ที่มา ปัญหาเดิม ภาพรวมระบบ และ data flow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87168"/>
            <a:ext cx="11183112" cy="10058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87168"/>
            <a:ext cx="76200" cy="10058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63368"/>
            <a:ext cx="10789920" cy="85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1B5E20"/>
                </a:solidFill>
                <a:latin typeface="Tahoma"/>
              </a:rPr>
              <a:t>2 · คู่มือ / วิธีใช้งาน</a:t>
            </a:r>
            <a:r>
              <a:rPr sz="1300" b="0">
                <a:solidFill>
                  <a:srgbClr val="556070"/>
                </a:solidFill>
                <a:latin typeface="Tahoma"/>
              </a:rPr>
              <a:t>   แต่ละแท็บทำอะไร ใช้ยังไง ทีละขั้น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02736"/>
            <a:ext cx="11183112" cy="10058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602736"/>
            <a:ext cx="76200" cy="1005840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678936"/>
            <a:ext cx="10789920" cy="853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>
                <a:solidFill>
                  <a:srgbClr val="B88600"/>
                </a:solidFill>
                <a:latin typeface="Tahoma"/>
              </a:rPr>
              <a:t>3 · แผนพัฒนาต่อ</a:t>
            </a:r>
            <a:r>
              <a:rPr sz="1300" b="0">
                <a:solidFill>
                  <a:srgbClr val="556070"/>
                </a:solidFill>
                <a:latin typeface="Tahoma"/>
              </a:rPr>
              <a:t>   สิ่งที่ทำเสร็จแล้ว · กำลังจะทำ · อนาคต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46888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Tahoma"/>
              </a:rPr>
              <a:t>เสนอระบบ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C0E8"/>
                </a:solidFill>
                <a:latin typeface="Tahoma"/>
              </a:rPr>
              <a:t>System Overview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ที่มา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ปัญหาเดิม — ทำไมต้องมีระบบนี้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914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91440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71C1C"/>
                </a:solidFill>
                <a:latin typeface="Tahoma"/>
              </a:rPr>
              <a:t>ขอคนซัพแบบ manual</a:t>
            </a:r>
            <a:r>
              <a:rPr sz="1300" b="0">
                <a:solidFill>
                  <a:srgbClr val="556070"/>
                </a:solidFill>
                <a:latin typeface="Tahoma"/>
              </a:rPr>
              <a:t>  แต่ละทีมพิมพ์ขอคนช่วยทางไลน์ ไม่มีมาตรฐาน หาย/ตกหล่น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95728"/>
            <a:ext cx="11183112" cy="914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95728"/>
            <a:ext cx="76200" cy="91440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71928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71C1C"/>
                </a:solidFill>
                <a:latin typeface="Tahoma"/>
              </a:rPr>
              <a:t>หาคนว่างยาก</a:t>
            </a:r>
            <a:r>
              <a:rPr sz="1300" b="0">
                <a:solidFill>
                  <a:srgbClr val="556070"/>
                </a:solidFill>
                <a:latin typeface="Tahoma"/>
              </a:rPr>
              <a:t>  ต้องไล่ดูตารางทีละทีมว่าใครว่าง รู้ระบบเช็คอินตรงไหม เวลาชนกันไหม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419856"/>
            <a:ext cx="11183112" cy="914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419856"/>
            <a:ext cx="76200" cy="91440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96056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71C1C"/>
                </a:solidFill>
                <a:latin typeface="Tahoma"/>
              </a:rPr>
              <a:t>เช็ค SLA ด้วยมือ</a:t>
            </a:r>
            <a:r>
              <a:rPr sz="1300" b="0">
                <a:solidFill>
                  <a:srgbClr val="556070"/>
                </a:solidFill>
                <a:latin typeface="Tahoma"/>
              </a:rPr>
              <a:t>  ต้องนับเองว่าแต่ละไฟลท์ส่งคนครบตามมาตรฐานสายการบินไหม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443984"/>
            <a:ext cx="11183112" cy="91440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443984"/>
            <a:ext cx="76200" cy="91440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520184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B71C1C"/>
                </a:solidFill>
                <a:latin typeface="Tahoma"/>
              </a:rPr>
              <a:t>OT / เวลากะ ไม่ถูกตรวจ</a:t>
            </a:r>
            <a:r>
              <a:rPr sz="1300" b="0">
                <a:solidFill>
                  <a:srgbClr val="556070"/>
                </a:solidFill>
                <a:latin typeface="Tahoma"/>
              </a:rPr>
              <a:t>  คนถูก assign ไฟลท์นอกเวลากะ หรือ OT เกินจำเป็น มองไม่เห็น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แนวคิด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ระบบนี้คืออะไร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0D2137"/>
                </a:solidFill>
                <a:latin typeface="Tahoma"/>
              </a:rPr>
              <a:t>เว็บแดชบอร์ดตัวเดียว </a:t>
            </a:r>
            <a:r>
              <a:rPr sz="1500" b="0">
                <a:solidFill>
                  <a:srgbClr val="556070"/>
                </a:solidFill>
                <a:latin typeface="Tahoma"/>
              </a:rPr>
              <a:t>ที่อ่านข้อมูลจาก Google Sheets ของจริง แล้วช่วยงานหัวหน้า/ดิวตี้: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121408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2121408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197608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อ่านอัตโนมัติ</a:t>
            </a:r>
            <a:r>
              <a:rPr sz="1300" b="0">
                <a:solidFill>
                  <a:srgbClr val="556070"/>
                </a:solidFill>
                <a:latin typeface="Tahoma"/>
              </a:rPr>
              <a:t>  ดึง Roster (เวร) + Flight (ไฟลท์/เวลา) + Master (อัตรากำลัง) ทุกครั้งที่เปิด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099816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099816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176016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เช็ค SLA</a:t>
            </a:r>
            <a:r>
              <a:rPr sz="1300" b="0">
                <a:solidFill>
                  <a:srgbClr val="556070"/>
                </a:solidFill>
                <a:latin typeface="Tahoma"/>
              </a:rPr>
              <a:t>  เทียบคนที่ส่ง vs มาตรฐานสายการบิน (SUP/Check-in/Gate/Arrival) ต่อไฟลท์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4078224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2920" y="4078224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154424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หาคนช่วย + SOS</a:t>
            </a:r>
            <a:r>
              <a:rPr sz="1300" b="0">
                <a:solidFill>
                  <a:srgbClr val="556070"/>
                </a:solidFill>
                <a:latin typeface="Tahoma"/>
              </a:rPr>
              <a:t>  แนะนำคนทีมอื่นที่ว่าง+รู้ระบบ มาเสริม และสร้างข้อความ SOS คัดลอกส่งไลน์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56632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02920" y="5056632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132832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จัดเวรอัตโนมัติ</a:t>
            </a:r>
            <a:r>
              <a:rPr sz="1300" b="0">
                <a:solidFill>
                  <a:srgbClr val="556070"/>
                </a:solidFill>
                <a:latin typeface="Tahoma"/>
              </a:rPr>
              <a:t>  เติมคนข้ามทีม หรือจัดเวรใหม่ทั้งวันให้ครบตาม SLA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เมนู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ภาพรวม 8 แท็บการทำงาน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7800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▦ Dashboard</a:t>
            </a:r>
            <a:r>
              <a:rPr sz="1200" b="0">
                <a:solidFill>
                  <a:srgbClr val="556070"/>
                </a:solidFill>
                <a:latin typeface="Tahoma"/>
              </a:rPr>
              <a:t>   สรุปยอดคนเข้าเวร/หยุด/ลา · OT รวม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139696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15896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✈️ Flights &amp; SLA</a:t>
            </a:r>
            <a:r>
              <a:rPr sz="1200" b="0">
                <a:solidFill>
                  <a:srgbClr val="556070"/>
                </a:solidFill>
                <a:latin typeface="Tahoma"/>
              </a:rPr>
              <a:t>   ทุกไฟลท์ + คนที่ต้องการ vs ส่งจริง + สถานะครบ/ขาด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07792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983992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71C1C"/>
                </a:solidFill>
                <a:latin typeface="Tahoma"/>
              </a:rPr>
              <a:t>🆘 Support</a:t>
            </a:r>
            <a:r>
              <a:rPr sz="1200" b="0">
                <a:solidFill>
                  <a:srgbClr val="556070"/>
                </a:solidFill>
                <a:latin typeface="Tahoma"/>
              </a:rPr>
              <a:t>   ไฟลท์คนไม่ครบ + แนะนำคนช่วย + ข้อความ SOS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675888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3752088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🧭 ตรวจ Assign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เช็คคนรายคน: เวลากะครอบไฟลท์ไหม · OT · ช่วงว่าง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443984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520184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🤖 เติม / Auto Assign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เติมคนข้ามทีม · จัดเวรใหม่ทั้งวันตาม SLA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212080"/>
            <a:ext cx="11183112" cy="65836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5288280"/>
            <a:ext cx="10789920" cy="5059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📅 จัดล่วงหน้า · ⏱️ OT · ☰ Timetable</a:t>
            </a:r>
            <a:r>
              <a:rPr sz="1200" b="0">
                <a:solidFill>
                  <a:srgbClr val="556070"/>
                </a:solidFill>
                <a:latin typeface="Tahoma"/>
              </a:rPr>
              <a:t>   วางแผนล่วงหน้า+export ต่อทีม · OT รายเดือน · ตารางรายคน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สถาปัตยกรรม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Data Flow — ข้อมูลไหลยังไง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9601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96012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80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1) แหล่งข้อมูล (Google Sheets)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ROSTER (เวร/ตำแหน่ง/ไฟลท์ที่ลง) · FLIGHT (STA/STD) · MASTER (อัตรากำลัง+สถานะ Active/Resigned)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441448"/>
            <a:ext cx="11183112" cy="9601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441448"/>
            <a:ext cx="76200" cy="96012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517648"/>
            <a:ext cx="10789920" cy="80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2) ตัวอ่าน + เครื่องคำนวณ (Apps Script)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อ่านแถวแบบ dynamic → จับคู่คน-ไฟลท์ → เทียบ SLA รายสาย → หาคนว่าง/รู้ระบบ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11296"/>
            <a:ext cx="11183112" cy="9601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511296"/>
            <a:ext cx="76200" cy="96012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587496"/>
            <a:ext cx="10789920" cy="807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3) แสดงผล (เว็บแดชบอร์ด)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8 แท็บ · เลือกวันที่ · ข้อความ SOS · export ชีตต่อทีม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581144"/>
            <a:ext cx="11183112" cy="73152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657344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1B5E20"/>
                </a:solidFill>
                <a:latin typeface="Tahoma"/>
              </a:rPr>
              <a:t>✓ อ่านชีตสดทุกครั้ง → เพิ่ม/ลาออกคน หรือแก้ไฟลท์ ระบบเห็นทันที ไม่ต้องแก้โค้ด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46888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Tahoma"/>
              </a:rPr>
              <a:t>คู่มือ / วิธีใช้งาน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C0E8"/>
                </a:solidFill>
                <a:latin typeface="Tahoma"/>
              </a:rPr>
              <a:t>User Manual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ขั้นพื้นฐาน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เริ่มใช้งาน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1) เปิดเว็บแอป</a:t>
            </a:r>
            <a:r>
              <a:rPr sz="1300" b="0">
                <a:solidFill>
                  <a:srgbClr val="556070"/>
                </a:solidFill>
                <a:latin typeface="Tahoma"/>
              </a:rPr>
              <a:t>   เปิดลิงก์เว็บแอป (จาก Apps Script) บนคอม/มือถือ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50008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6208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2) เลือกวันที่</a:t>
            </a:r>
            <a:r>
              <a:rPr sz="1300" b="0">
                <a:solidFill>
                  <a:srgbClr val="556070"/>
                </a:solidFill>
                <a:latin typeface="Tahoma"/>
              </a:rPr>
              <a:t>   ระบบจะดึง roster ของวันนั้นมาคำนวณให้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28416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76200" cy="86868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04616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3) เลือกแท็บที่ต้องการ</a:t>
            </a:r>
            <a:r>
              <a:rPr sz="1300" b="0">
                <a:solidFill>
                  <a:srgbClr val="556070"/>
                </a:solidFill>
                <a:latin typeface="Tahoma"/>
              </a:rPr>
              <a:t>   แต่ละแท็บโหลดเมื่อกด (เร็วขึ้น) · มีช่องค้นหา + เลือกทีมในทุกตาราง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06824"/>
            <a:ext cx="11183112" cy="77724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3024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B88600"/>
                </a:solidFill>
                <a:latin typeface="Tahoma"/>
              </a:rPr>
              <a:t>💡 ข้อมูลอัปเดตจากชีตทุกครั้งที่รีเฟรช — แก้ในชีต Google แล้วรีเฟรชเว็บ เห็นผลทันที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คู่มือแท็บ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✈️ Flights &amp; SLA — อ่านยังไง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แต่ละแถว = 1 ไฟลท์ · คอลัมน์ </a:t>
            </a:r>
            <a:r>
              <a:rPr sz="1300" b="1">
                <a:solidFill>
                  <a:srgbClr val="1F4E79"/>
                </a:solidFill>
                <a:latin typeface="Tahoma"/>
              </a:rPr>
              <a:t>จัด/รวม</a:t>
            </a:r>
            <a:r>
              <a:rPr sz="1300" b="0">
                <a:solidFill>
                  <a:srgbClr val="556070"/>
                </a:solidFill>
                <a:latin typeface="Tahoma"/>
              </a:rPr>
              <a:t> = คนที่ส่งจริง / ที่ต้องการ · ช่อง SUP·Check-in·Gate·Arrival = แยกตามหน้าที่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212848"/>
            <a:ext cx="11183112" cy="6400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9048"/>
            <a:ext cx="107899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✅ ครบ</a:t>
            </a:r>
            <a:r>
              <a:rPr sz="1300" b="0">
                <a:solidFill>
                  <a:srgbClr val="556070"/>
                </a:solidFill>
                <a:latin typeface="Tahoma"/>
              </a:rPr>
              <a:t>   ส่งคนครบตามมาตรฐานสายการบินนั้น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962656"/>
            <a:ext cx="11183112" cy="64008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3038856"/>
            <a:ext cx="10789920" cy="487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71C1C"/>
                </a:solidFill>
                <a:latin typeface="Tahoma"/>
              </a:rPr>
              <a:t>⚠️ ขาด …</a:t>
            </a:r>
            <a:r>
              <a:rPr sz="1300" b="0">
                <a:solidFill>
                  <a:srgbClr val="556070"/>
                </a:solidFill>
                <a:latin typeface="Tahoma"/>
              </a:rPr>
              <a:t>   บอกว่าขาดหน้าที่ไหน กี่คน (เช่น Gate ขาด 2)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712464"/>
            <a:ext cx="11183112" cy="11887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788664"/>
            <a:ext cx="10789920" cy="1036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0D2137"/>
                </a:solidFill>
                <a:latin typeface="Tahoma"/>
              </a:rPr>
              <a:t>กฎสำคัญที่ระบบใช้: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• leg-based: ไฟลท์ขาออกอย่างเดียวไม่นับ Arrival · ขาเข้าอย่างเดียวไม่นับ Check-in/Gate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• 00:00 = ค่า placeholder (ยังไม่กรอกเวลา) ไม่ใช่เที่ยงคืนจริง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• ไฟลท์ไม่มี STA/STD เลย → ขึ้นเตือน “เติมเวลาในชีต”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คู่มือแท็บ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🆘 Support — หาคนช่วย + SOS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7315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731520"/>
          </a:xfrm>
          <a:prstGeom prst="rect">
            <a:avLst/>
          </a:prstGeom>
          <a:solidFill>
            <a:srgbClr val="B71C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71C1C"/>
                </a:solidFill>
                <a:latin typeface="Tahoma"/>
              </a:rPr>
              <a:t>รายการไฟลท์ที่คนไม่ครบ</a:t>
            </a:r>
            <a:r>
              <a:rPr sz="1200" b="0">
                <a:solidFill>
                  <a:srgbClr val="556070"/>
                </a:solidFill>
                <a:latin typeface="Tahoma"/>
              </a:rPr>
              <a:t>   แยกตามหน้าที่ที่ขาด + ช่วงเวลา + ระบบเช็คอินที่ต้องใช้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12848"/>
            <a:ext cx="11183112" cy="7315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12848"/>
            <a:ext cx="76200" cy="73152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289048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แนะนำคนช่วย (ทีมอื่นเท่านั้น)</a:t>
            </a:r>
            <a:r>
              <a:rPr sz="1200" b="0">
                <a:solidFill>
                  <a:srgbClr val="556070"/>
                </a:solidFill>
                <a:latin typeface="Tahoma"/>
              </a:rPr>
              <a:t>   ว่างช่วงนั้น + รู้ระบบ · เลือกทีมที่จะดึง · 1 ช่อง = 1 คน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054096"/>
            <a:ext cx="11183112" cy="73152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054096"/>
            <a:ext cx="76200" cy="731520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130296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OFF · re-sked</a:t>
            </a:r>
            <a:r>
              <a:rPr sz="1200" b="0">
                <a:solidFill>
                  <a:srgbClr val="556070"/>
                </a:solidFill>
                <a:latin typeface="Tahoma"/>
              </a:rPr>
              <a:t>   ถ้าคนเข้าเวรไม่พอ ระบบเสนอคน “วันหยุด” มา re-sked (ต่อท้ายรายการ)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895344"/>
            <a:ext cx="11183112" cy="91440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3971544"/>
            <a:ext cx="10789920" cy="76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📋 ปุ่ม “ข้อความ SOS”</a:t>
            </a:r>
            <a:r>
              <a:rPr sz="1200" b="0">
                <a:solidFill>
                  <a:srgbClr val="556070"/>
                </a:solidFill>
                <a:latin typeface="Tahoma"/>
              </a:rPr>
              <a:t>   กดคัดลอก → วางในไลน์ได้เลย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รูปแบบ: ชื่อไฟลท์ + เวลา + หน้าที่ที่ขาด + รายชื่อคนช่วย (ชื่อ/ทีม) — เฉพาะคนทีมอื่น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คู่มือแท็บ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🧭 ตรวจ Assign รายคน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10972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ตรวจความเหมาะสมการจัดคนทีละคน — เน้นเฉพาะที่ต้องดู (🔴/🟡)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984248"/>
            <a:ext cx="11183112" cy="685800"/>
          </a:xfrm>
          <a:prstGeom prst="rect">
            <a:avLst/>
          </a:prstGeom>
          <a:solidFill>
            <a:srgbClr val="FD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060448"/>
            <a:ext cx="1078992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71C1C"/>
                </a:solidFill>
                <a:latin typeface="Tahoma"/>
              </a:rPr>
              <a:t>🔴 ไฟลท์นอกเวลา / OT ไม่พอ</a:t>
            </a:r>
            <a:r>
              <a:rPr sz="1200" b="0">
                <a:solidFill>
                  <a:srgbClr val="556070"/>
                </a:solidFill>
                <a:latin typeface="Tahoma"/>
              </a:rPr>
              <a:t>   ไฟลท์ที่ได้รับเริ่ม/เลิกนอกเวลากะ แล้ว OT ไม่ครอบ → ควร Re-Sked/ให้ OT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79776"/>
            <a:ext cx="11183112" cy="68580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855976"/>
            <a:ext cx="10789920" cy="533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🟡 OT อาจเกิน / มีช่วงว่างยาว</a:t>
            </a:r>
            <a:r>
              <a:rPr sz="1200" b="0">
                <a:solidFill>
                  <a:srgbClr val="556070"/>
                </a:solidFill>
                <a:latin typeface="Tahoma"/>
              </a:rPr>
              <a:t>   ไฟลท์อยู่ในเวลากะแต่ให้ OT · หรือมีช่องว่างกลางวันนาน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3575304"/>
            <a:ext cx="11183112" cy="82296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651504"/>
            <a:ext cx="10789920" cy="6705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เทรน/อบรม/ประชุม นับเป็น “งาน”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0">
                <a:solidFill>
                  <a:srgbClr val="556070"/>
                </a:solidFill>
                <a:latin typeface="Tahoma"/>
              </a:rPr>
              <a:t>ไม่ขึ้น 🔴 ว่านอกเวลา และถือว่าคนนั้น busy (ไม่ถูกดึงไปช่วยตอนอบรม)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คู่มือแท็บ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🤖 เติม / Auto Assign · 📅 จัดล่วงหน้า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7772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🤖 เติมจาก Assign เดิม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เก็บเวรเดิมไว้ แล้วเติมคนข้ามทีมเฉพาะไฟลท์ที่ขาด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258568"/>
            <a:ext cx="11183112" cy="7772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258568"/>
            <a:ext cx="76200" cy="77724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34768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🤖 Auto Assign (จัดใหม่ทั้งหมด)</a:t>
            </a:r>
            <a:r>
              <a:rPr sz="1200" b="0">
                <a:solidFill>
                  <a:srgbClr val="556070"/>
                </a:solidFill>
                <a:latin typeface="Tahoma"/>
              </a:rPr>
              <a:t>   ล้างแล้วจัดทุกคนลงไฟลท์ให้ครบ SLA + โชว์คนพัก/สำรอง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145536"/>
            <a:ext cx="11183112" cy="7772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145536"/>
            <a:ext cx="76200" cy="77724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221736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📅 จัดล่วงหน้า + 📤 export</a:t>
            </a:r>
            <a:r>
              <a:rPr sz="1200" b="0">
                <a:solidFill>
                  <a:srgbClr val="556070"/>
                </a:solidFill>
                <a:latin typeface="Tahoma"/>
              </a:rPr>
              <a:t>   วางแผนวันถัดไป · สร้างไฟล์ชีตแจกทีม (1 แท็บ/ทีม) ไม่ทับไฟล์จริง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032504"/>
            <a:ext cx="11183112" cy="77724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108704"/>
            <a:ext cx="10789920" cy="624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0D2137"/>
                </a:solidFill>
                <a:latin typeface="Tahoma"/>
              </a:rPr>
              <a:t>🛄 SU/SQ เช็คอินคอมมอน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เคาน์เตอร์รวมหมุนเวียน ≤3 ชม./คน + เกทต่อไฟลท์ (คนต่อเนื่องจากเช็คอิน)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Operations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การดูแลข้อมูล (ไม่ต้องแก้โค้ด)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8686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  <a:latin typeface="Tahoma"/>
              </a:rPr>
              <a:t>เพิ่มพนักงานใหม่</a:t>
            </a:r>
            <a:r>
              <a:rPr sz="1300" b="0">
                <a:solidFill>
                  <a:srgbClr val="556070"/>
                </a:solidFill>
                <a:latin typeface="Tahoma"/>
              </a:rPr>
              <a:t>   เพิ่มแถวในชีต (รหัส 6-8 หลัก + ชื่อ + กะ + ตำแหน่ง) → ระบบอ่านเอง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50008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50008"/>
            <a:ext cx="76200" cy="868680"/>
          </a:xfrm>
          <a:prstGeom prst="rect">
            <a:avLst/>
          </a:prstGeom>
          <a:solidFill>
            <a:srgbClr val="1B5E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426208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B5E20"/>
                </a:solidFill>
                <a:latin typeface="Tahoma"/>
              </a:rPr>
              <a:t>พนักงานลาออก</a:t>
            </a:r>
            <a:r>
              <a:rPr sz="1300" b="0">
                <a:solidFill>
                  <a:srgbClr val="556070"/>
                </a:solidFill>
                <a:latin typeface="Tahoma"/>
              </a:rPr>
              <a:t>   ใส่สถานะ Resigned ใน MASTER → ตัดออกจากอัตรากำลังอัตโนมัติ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328416"/>
            <a:ext cx="11183112" cy="868680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328416"/>
            <a:ext cx="76200" cy="86868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404616"/>
            <a:ext cx="10789920" cy="716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1F4E79"/>
                </a:solidFill>
                <a:latin typeface="Tahoma"/>
              </a:rPr>
              <a:t>Auto-deploy</a:t>
            </a:r>
            <a:r>
              <a:rPr sz="1300" b="0">
                <a:solidFill>
                  <a:srgbClr val="556070"/>
                </a:solidFill>
                <a:latin typeface="Tahoma"/>
              </a:rPr>
              <a:t>   แก้โค้ด → push → GitHub Action รัน clasp push ขึ้น Apps Script อัตโนมัติ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306824"/>
            <a:ext cx="11183112" cy="731520"/>
          </a:xfrm>
          <a:prstGeom prst="rect">
            <a:avLst/>
          </a:prstGeom>
          <a:solidFill>
            <a:srgbClr val="FFF8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3024"/>
            <a:ext cx="10789920" cy="579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B88600"/>
                </a:solidFill>
                <a:latin typeface="Tahoma"/>
              </a:rPr>
              <a:t>⚠️ ต้องรักษาฟอร์แมตชีตเดิม (ตำแหน่งคอลัมน์ รหัส ชื่อ) · ใช้คำสถานะตรงตัว Active/Resigned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46304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60320" y="2468880"/>
            <a:ext cx="8961120" cy="1463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>
                <a:solidFill>
                  <a:srgbClr val="FFFFFF"/>
                </a:solidFill>
                <a:latin typeface="Tahoma"/>
              </a:rPr>
              <a:t>แผนพัฒนาต่อ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9FC0E8"/>
                </a:solidFill>
                <a:latin typeface="Tahoma"/>
              </a:rPr>
              <a:t>Development Roadmap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Phase 1 — Done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สิ่งที่ทำเสร็จแล้ว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4297680"/>
          </a:xfrm>
          <a:prstGeom prst="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447800"/>
            <a:ext cx="10789920" cy="4145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SLA leg-based</a:t>
            </a:r>
            <a:r>
              <a:rPr sz="1200" b="0">
                <a:solidFill>
                  <a:srgbClr val="556070"/>
                </a:solidFill>
                <a:latin typeface="Tahoma"/>
              </a:rPr>
              <a:t>  คิดความต้องการตามขาที่ไฟลท์มีจริง (ขาออก/ขาเข้า)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รวมไฟลท์ซ้ำ + ซ่อนเศษขา</a:t>
            </a:r>
            <a:r>
              <a:rPr sz="1200" b="0">
                <a:solidFill>
                  <a:srgbClr val="556070"/>
                </a:solidFill>
                <a:latin typeface="Tahoma"/>
              </a:rPr>
              <a:t>  TK172/173+TK172, EY416 codeshare → แถวเดียว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ชื่อทีม/ระบบ/สายการบิน ตรงชีตจริง</a:t>
            </a:r>
            <a:r>
              <a:rPr sz="1200" b="0">
                <a:solidFill>
                  <a:srgbClr val="556070"/>
                </a:solidFill>
                <a:latin typeface="Tahoma"/>
              </a:rPr>
              <a:t>  KC→KE, รวม WY/WK, เติม QP/IX/QZ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ข้อความ SOS คัดลอกส่งไลน์</a:t>
            </a:r>
            <a:r>
              <a:rPr sz="1200" b="0">
                <a:solidFill>
                  <a:srgbClr val="556070"/>
                </a:solidFill>
                <a:latin typeface="Tahoma"/>
              </a:rPr>
              <a:t>  จัดกลุ่มต่อไฟลท์ เฉพาะคนทีมอื่น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ดึงคน OFF มา re-sked</a:t>
            </a:r>
            <a:r>
              <a:rPr sz="1200" b="0">
                <a:solidFill>
                  <a:srgbClr val="556070"/>
                </a:solidFill>
                <a:latin typeface="Tahoma"/>
              </a:rPr>
              <a:t>  เสนอคนวันหยุดเมื่อคนเข้าเวรไม่พอ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เทรน/อบรม นับเป็นงาน + busy</a:t>
            </a:r>
            <a:r>
              <a:rPr sz="1200" b="0">
                <a:solidFill>
                  <a:srgbClr val="556070"/>
                </a:solidFill>
                <a:latin typeface="Tahoma"/>
              </a:rPr>
              <a:t>  ไม่ flag นอกเวลา · อ่านช่วงเวลาอบรมจากข้อความ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B5E20"/>
                </a:solidFill>
                <a:latin typeface="Tahoma"/>
              </a:rPr>
              <a:t>✓ แก้นับ AdminDoc · กัน 00:00 placeholder · auto-deploy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Phase 2 —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กำลังจะทำต่อ (ระยะใกล้)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841248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Mapping ทีม → ระบบเช็คอินที่ถนัด</a:t>
            </a:r>
            <a:r>
              <a:rPr sz="1200" b="0">
                <a:solidFill>
                  <a:srgbClr val="556070"/>
                </a:solidFill>
                <a:latin typeface="Tahoma"/>
              </a:rPr>
              <a:t>   ให้คน OFF ของทีมที่หยุดทั้งทีม ยังขึ้นช่วยงาน Check-in ได้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22576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22576"/>
            <a:ext cx="76200" cy="841248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98776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อ่านเวลาอบรมทุกฟอร์แมต</a:t>
            </a:r>
            <a:r>
              <a:rPr sz="1200" b="0">
                <a:solidFill>
                  <a:srgbClr val="556070"/>
                </a:solidFill>
                <a:latin typeface="Tahoma"/>
              </a:rPr>
              <a:t>   รองรับ 08-17, 0900-1200, 8.00-17.00 ฯลฯ ให้ busy แม่นขึ้น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73552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73552"/>
            <a:ext cx="76200" cy="841248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49752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Auto deployment version (/exec)</a:t>
            </a:r>
            <a:r>
              <a:rPr sz="1200" b="0">
                <a:solidFill>
                  <a:srgbClr val="556070"/>
                </a:solidFill>
                <a:latin typeface="Tahoma"/>
              </a:rPr>
              <a:t>   ให้ลิงก์เว็บ /exec อัปเดตเองหลัง push (ไม่ต้องกด New version)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24528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24528"/>
            <a:ext cx="76200" cy="841248"/>
          </a:xfrm>
          <a:prstGeom prst="rect">
            <a:avLst/>
          </a:prstGeom>
          <a:solidFill>
            <a:srgbClr val="B88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00728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B88600"/>
                </a:solidFill>
                <a:latin typeface="Tahoma"/>
              </a:rPr>
              <a:t>จับไฟลท์กรอกสลับหัว-ท้าย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เช่น VJ808/809 vs VJ809/808 ให้รวมเป็นไฟลท์เดียว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08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0058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>
                <a:solidFill>
                  <a:srgbClr val="9FC0E8"/>
                </a:solidFill>
                <a:latin typeface="Tahoma"/>
              </a:rPr>
              <a:t>Phase 3 — Future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"/>
            <a:ext cx="11155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600" b="1">
                <a:solidFill>
                  <a:srgbClr val="FFFFFF"/>
                </a:solidFill>
                <a:latin typeface="Tahoma"/>
              </a:rPr>
              <a:t>แผนระยะยาว (อนาคต)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371600"/>
            <a:ext cx="76200" cy="841248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47800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บันทึก SOS ลงชีต / ส่งไลน์อัตโนมัติ</a:t>
            </a:r>
            <a:r>
              <a:rPr sz="1200" b="0">
                <a:solidFill>
                  <a:srgbClr val="556070"/>
                </a:solidFill>
                <a:latin typeface="Tahoma"/>
              </a:rPr>
              <a:t>   เก็บประวัติคำขอ + ส่งเข้ากลุ่มไลน์ทีมโดยตรง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322576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02920" y="2322576"/>
            <a:ext cx="76200" cy="841248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398776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มุมมองมือถือ (Mobile-friendly)</a:t>
            </a:r>
            <a:r>
              <a:rPr sz="1200" b="0">
                <a:solidFill>
                  <a:srgbClr val="556070"/>
                </a:solidFill>
                <a:latin typeface="Tahoma"/>
              </a:rPr>
              <a:t>   ปรับหน้าจอให้ดิวตี้ใช้บนมือถือสะดวกขึ้น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273552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" y="3273552"/>
            <a:ext cx="76200" cy="841248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349752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รายงาน/สถิติย้อนหลัง</a:t>
            </a:r>
            <a:r>
              <a:rPr sz="1200" b="0">
                <a:solidFill>
                  <a:srgbClr val="556070"/>
                </a:solidFill>
                <a:latin typeface="Tahoma"/>
              </a:rPr>
              <a:t>   แนวโน้มคนขาด · OT · ทีมที่ช่วยบ่อย เพื่อวางกำลังคน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4224528"/>
            <a:ext cx="11183112" cy="841248"/>
          </a:xfrm>
          <a:prstGeom prst="rect">
            <a:avLst/>
          </a:prstGeom>
          <a:solidFill>
            <a:srgbClr val="F0F5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4224528"/>
            <a:ext cx="76200" cy="841248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300728"/>
            <a:ext cx="10789920" cy="6888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1F4E79"/>
                </a:solidFill>
                <a:latin typeface="Tahoma"/>
              </a:rPr>
              <a:t>คาดการณ์ความต้องการคน (Predictive)</a:t>
            </a:r>
            <a:r>
              <a:rPr sz="1200" b="0">
                <a:solidFill>
                  <a:srgbClr val="556070"/>
                </a:solidFill>
                <a:latin typeface="Tahoma"/>
              </a:rPr>
              <a:t>   ประเมินล่วงหน้าจากตารางบิน + อัตรากำลัง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4652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>
                <a:solidFill>
                  <a:srgbClr val="556070"/>
                </a:solidFill>
                <a:latin typeface="Tahoma"/>
              </a:rPr>
              <a:t>PWMS · PSA-HKT Workforce Management 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46520"/>
            <a:ext cx="8229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1">
                <a:solidFill>
                  <a:srgbClr val="556070"/>
                </a:solidFill>
                <a:latin typeface="Tahoma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21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743200"/>
            <a:ext cx="12191695" cy="63500"/>
          </a:xfrm>
          <a:prstGeom prst="rect">
            <a:avLst/>
          </a:prstGeom>
          <a:solidFill>
            <a:srgbClr val="2F6FB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82880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600" b="1">
                <a:solidFill>
                  <a:srgbClr val="FFFFFF"/>
                </a:solidFill>
                <a:latin typeface="Tahoma"/>
              </a:rPr>
              <a:t>สรุป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017520"/>
            <a:ext cx="1097280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Tahoma"/>
              </a:rPr>
              <a:t>ระบบเดียวที่ช่วยตั้งแต่ เช็ค SLA → หาคนช่วย → สร้าง SOS → จัดเวร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FE0F2"/>
                </a:solidFill>
                <a:latin typeface="Tahoma"/>
              </a:rPr>
              <a:t>อ่านชีตสดทุกครั้ง · เพิ่ม/ลาออกคนไม่ต้องแก้โค้ด · auto-deploy</a:t>
            </a:r>
          </a:p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0">
                <a:solidFill>
                  <a:srgbClr val="CFE0F2"/>
                </a:solidFill>
                <a:latin typeface="Tahoma"/>
              </a:rPr>
              <a:t>พัฒนาต่อเนื่อง: re-sked ข้ามทีม · อบรมแม่นขึ้น · รายงานย้อนหลัง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>
                <a:solidFill>
                  <a:srgbClr val="9FC0E8"/>
                </a:solidFill>
                <a:latin typeface="Tahoma"/>
              </a:rPr>
              <a:t>ขอบคุณครับ · PWMS — PSA-HKT / AOTGA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